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005840" cy="1005840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6111A"/>
                </a:solidFill>
                <a:latin typeface="Arial Black"/>
              </a:rPr>
              <a:t>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6858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SoftLoad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D4B5"/>
                </a:solidFill>
                <a:latin typeface="Calibri"/>
              </a:rPr>
              <a:t>ENTERPRISE SOFTWARE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74519"/>
            <a:ext cx="6858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Премиальная платформа
для безопасной онлайн-загрузки
программного обеспечения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4206240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8CC"/>
                </a:solidFill>
                <a:latin typeface="Calibri"/>
              </a:rPr>
              <a:t>SoftLoad Hub централизует публикацию, проверку и распространение ПО.
Пользователь видит актуальные версии, понятные параметры и проверенные источники.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1097280"/>
            <a:ext cx="3017520" cy="5029200"/>
          </a:xfrm>
          <a:prstGeom prst="rect">
            <a:avLst/>
          </a:prstGeom>
          <a:solidFill>
            <a:srgbClr val="13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0" y="1417320"/>
            <a:ext cx="2651760" cy="9144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D4B5"/>
                </a:solidFill>
                <a:latin typeface="Arial Black"/>
              </a:rPr>
              <a:t>420+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8745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9B8CC"/>
                </a:solidFill>
                <a:latin typeface="Calibri"/>
              </a:rPr>
              <a:t>проверенных программ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2532888"/>
            <a:ext cx="2651760" cy="9144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5786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D4B5"/>
                </a:solidFill>
                <a:latin typeface="Arial Black"/>
              </a:rPr>
              <a:t>38 тыс.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9900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9B8CC"/>
                </a:solidFill>
                <a:latin typeface="Calibri"/>
              </a:rPr>
              <a:t>загрузок в месяц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3648456"/>
            <a:ext cx="2651760" cy="9144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369417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D4B5"/>
                </a:solidFill>
                <a:latin typeface="Arial Black"/>
              </a:rPr>
              <a:t>99.8%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410565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9B8CC"/>
                </a:solidFill>
                <a:latin typeface="Calibri"/>
              </a:rPr>
              <a:t>доступность сервиса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4764024"/>
            <a:ext cx="2651760" cy="9144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4809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D4B5"/>
                </a:solidFill>
                <a:latin typeface="Arial Black"/>
              </a:rPr>
              <a:t>12 мин.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522122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9B8CC"/>
                </a:solidFill>
                <a:latin typeface="Calibri"/>
              </a:rPr>
              <a:t>время публикации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9B8CC"/>
                </a:solidFill>
                <a:latin typeface="Calibri"/>
              </a:rPr>
              <a:t>© 2026 SoftLoad 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  <a:latin typeface="Calibri"/>
              </a:rPr>
              <a:t>ВОЗМОЖНОСТИ ПЛАТФОРМЫ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Все этапы загрузки ПО в одном интерфейсе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3657600" cy="2103120"/>
          </a:xfrm>
          <a:prstGeom prst="rect">
            <a:avLst/>
          </a:prstGeom>
          <a:solidFill>
            <a:srgbClr val="13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645919"/>
            <a:ext cx="54864" cy="1828799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73351"/>
            <a:ext cx="502920" cy="502920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7335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6111A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585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Проверка пакетов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6060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9B8CC"/>
                </a:solidFill>
                <a:latin typeface="Calibri"/>
              </a:rPr>
              <a:t>Файлы проходят контроль версии, размера, цифрового отпечатка и статуса безопасности перед публикацией.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1508760"/>
            <a:ext cx="3657600" cy="2103120"/>
          </a:xfrm>
          <a:prstGeom prst="rect">
            <a:avLst/>
          </a:prstGeom>
          <a:solidFill>
            <a:srgbClr val="13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1645919"/>
            <a:ext cx="54864" cy="1828799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3983" y="1673351"/>
            <a:ext cx="502920" cy="502920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3" y="167335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6111A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2585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Умный каталог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26060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9B8CC"/>
                </a:solidFill>
                <a:latin typeface="Calibri"/>
              </a:rPr>
              <a:t>Категории, поиск, фильтры и карточки помогают пользователю мгновенно найти нужную программу.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4736" y="1508760"/>
            <a:ext cx="3657600" cy="2103120"/>
          </a:xfrm>
          <a:prstGeom prst="rect">
            <a:avLst/>
          </a:prstGeom>
          <a:solidFill>
            <a:srgbClr val="13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1645919"/>
            <a:ext cx="54864" cy="1828799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39327" y="1673351"/>
            <a:ext cx="502920" cy="502920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167335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6111A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4776" y="22585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История версий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4776" y="26060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9B8CC"/>
                </a:solidFill>
                <a:latin typeface="Calibri"/>
              </a:rPr>
              <a:t>Администратор хранит релизные заметки, дату выпуска и информацию о совместимости.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840479"/>
            <a:ext cx="3657600" cy="2103120"/>
          </a:xfrm>
          <a:prstGeom prst="rect">
            <a:avLst/>
          </a:prstGeom>
          <a:solidFill>
            <a:srgbClr val="13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3977639"/>
            <a:ext cx="54864" cy="1828799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005071"/>
            <a:ext cx="502920" cy="502920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00507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6111A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590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Контроль целостности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4937759"/>
            <a:ext cx="3200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9B8CC"/>
                </a:solidFill>
                <a:latin typeface="Calibri"/>
              </a:rPr>
              <a:t>SHA-256 хеш, антивирусный скан и журнал публикаций для каждого пакета.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2" y="3840479"/>
            <a:ext cx="3657600" cy="2103120"/>
          </a:xfrm>
          <a:prstGeom prst="rect">
            <a:avLst/>
          </a:prstGeom>
          <a:solidFill>
            <a:srgbClr val="13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2" y="3977639"/>
            <a:ext cx="54864" cy="1828799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43983" y="4005071"/>
            <a:ext cx="502920" cy="502920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43983" y="400507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6111A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1" y="4590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Поддержка 4 ОС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9431" y="4937759"/>
            <a:ext cx="3200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9B8CC"/>
                </a:solidFill>
                <a:latin typeface="Calibri"/>
              </a:rPr>
              <a:t>Windows 10/11, macOS 13+, Ubuntu/Debian, Android и веб-приложения.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74736" y="3840479"/>
            <a:ext cx="3657600" cy="2103120"/>
          </a:xfrm>
          <a:prstGeom prst="rect">
            <a:avLst/>
          </a:prstGeom>
          <a:solidFill>
            <a:srgbClr val="13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74736" y="3977639"/>
            <a:ext cx="54864" cy="1828799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39327" y="4005071"/>
            <a:ext cx="502920" cy="502920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00507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6111A"/>
                </a:solidFill>
                <a:latin typeface="Calibr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94776" y="4590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Аналитика загрузок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4937759"/>
            <a:ext cx="3200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9B8CC"/>
                </a:solidFill>
                <a:latin typeface="Calibri"/>
              </a:rPr>
              <a:t>Статистика популярных программ, мониторинг 24/7, отчёты по рискам.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D4B5"/>
                </a:solidFill>
                <a:latin typeface="Calibri"/>
              </a:rPr>
              <a:t>КАТАЛОГ ПРОГРАММ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Проверенное ПО для быстрой загрузки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2724912" cy="2148840"/>
          </a:xfrm>
          <a:prstGeom prst="rect">
            <a:avLst/>
          </a:prstGeom>
          <a:solidFill>
            <a:srgbClr val="13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39"/>
            <a:ext cx="502920" cy="502920"/>
          </a:xfrm>
          <a:prstGeom prst="rect">
            <a:avLst/>
          </a:prstGeom>
          <a:solidFill>
            <a:srgbClr val="18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3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7D4B5"/>
                </a:solidFill>
                <a:latin typeface="Calibri"/>
              </a:rPr>
              <a:t>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709928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SecureDesk Pro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1288" y="2057400"/>
            <a:ext cx="1097280" cy="256032"/>
          </a:xfrm>
          <a:prstGeom prst="rect">
            <a:avLst/>
          </a:prstGeom>
          <a:solidFill>
            <a:srgbClr val="18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0574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7D4B5"/>
                </a:solidFill>
                <a:latin typeface="Calibri"/>
              </a:rPr>
              <a:t>Безопасность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2404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A6FF"/>
                </a:solidFill>
                <a:latin typeface="Calibri"/>
              </a:rPr>
              <a:t>v5.4.1 · 148 МБ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15768"/>
            <a:ext cx="2404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9B8CC"/>
                </a:solidFill>
                <a:latin typeface="Calibri"/>
              </a:rPr>
              <a:t>Корпоративная защита рабочих станций, серверов и файловых хранилищ.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508760"/>
            <a:ext cx="2724912" cy="2148840"/>
          </a:xfrm>
          <a:prstGeom prst="rect">
            <a:avLst/>
          </a:prstGeom>
          <a:solidFill>
            <a:srgbClr val="13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691639"/>
            <a:ext cx="502920" cy="502920"/>
          </a:xfrm>
          <a:prstGeom prst="rect">
            <a:avLst/>
          </a:prstGeom>
          <a:solidFill>
            <a:srgbClr val="18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69163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7D4B5"/>
                </a:solidFill>
                <a:latin typeface="Calibri"/>
              </a:rPr>
              <a:t>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709928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DevStudio Lite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9080" y="2057400"/>
            <a:ext cx="1097280" cy="256032"/>
          </a:xfrm>
          <a:prstGeom prst="rect">
            <a:avLst/>
          </a:prstGeom>
          <a:solidFill>
            <a:srgbClr val="18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20574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7D4B5"/>
                </a:solidFill>
                <a:latin typeface="Calibri"/>
              </a:rPr>
              <a:t>Разработка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423160"/>
            <a:ext cx="2404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A6FF"/>
                </a:solidFill>
                <a:latin typeface="Calibri"/>
              </a:rPr>
              <a:t>v2.9.0 · 410 МБ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715768"/>
            <a:ext cx="2404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9B8CC"/>
                </a:solidFill>
                <a:latin typeface="Calibri"/>
              </a:rPr>
              <a:t>Среда разработки для учебных, веб- и корпоративных проектов.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1508760"/>
            <a:ext cx="2724912" cy="2148840"/>
          </a:xfrm>
          <a:prstGeom prst="rect">
            <a:avLst/>
          </a:prstGeom>
          <a:solidFill>
            <a:srgbClr val="13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64224" y="1691639"/>
            <a:ext cx="502920" cy="502920"/>
          </a:xfrm>
          <a:prstGeom prst="rect">
            <a:avLst/>
          </a:prstGeom>
          <a:solidFill>
            <a:srgbClr val="18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69163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7D4B5"/>
                </a:solidFill>
                <a:latin typeface="Calibri"/>
              </a:rPr>
              <a:t>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1709928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OfficeFlow Suite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76872" y="2057400"/>
            <a:ext cx="1097280" cy="256032"/>
          </a:xfrm>
          <a:prstGeom prst="rect">
            <a:avLst/>
          </a:prstGeom>
          <a:solidFill>
            <a:srgbClr val="18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76872" y="20574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7D4B5"/>
                </a:solidFill>
                <a:latin typeface="Calibri"/>
              </a:rPr>
              <a:t>Офис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2423160"/>
            <a:ext cx="2404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A6FF"/>
                </a:solidFill>
                <a:latin typeface="Calibri"/>
              </a:rPr>
              <a:t>v11.2.3 · 265 МБ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2715768"/>
            <a:ext cx="2404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9B8CC"/>
                </a:solidFill>
                <a:latin typeface="Calibri"/>
              </a:rPr>
              <a:t>Пакет для документов, таблиц, презентаций и совместной работы.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07424" y="1508760"/>
            <a:ext cx="2724912" cy="2148840"/>
          </a:xfrm>
          <a:prstGeom prst="rect">
            <a:avLst/>
          </a:prstGeom>
          <a:solidFill>
            <a:srgbClr val="13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72016" y="1691639"/>
            <a:ext cx="502920" cy="502920"/>
          </a:xfrm>
          <a:prstGeom prst="rect">
            <a:avLst/>
          </a:prstGeom>
          <a:solidFill>
            <a:srgbClr val="18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72016" y="169163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7D4B5"/>
                </a:solidFill>
                <a:latin typeface="Calibri"/>
              </a:rPr>
              <a:t>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84664" y="1709928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CloudSync Drive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84664" y="2057400"/>
            <a:ext cx="1097280" cy="256032"/>
          </a:xfrm>
          <a:prstGeom prst="rect">
            <a:avLst/>
          </a:prstGeom>
          <a:solidFill>
            <a:srgbClr val="18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84664" y="20574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7D4B5"/>
                </a:solidFill>
                <a:latin typeface="Calibri"/>
              </a:rPr>
              <a:t>Облако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72016" y="2423160"/>
            <a:ext cx="2404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A6FF"/>
                </a:solidFill>
                <a:latin typeface="Calibri"/>
              </a:rPr>
              <a:t>v4.0.8 · 96 МБ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72016" y="2715768"/>
            <a:ext cx="2404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9B8CC"/>
                </a:solidFill>
                <a:latin typeface="Calibri"/>
              </a:rPr>
              <a:t>Синхронизация файлов, резервное копирование и общий доступ.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3840479"/>
            <a:ext cx="2724912" cy="2148840"/>
          </a:xfrm>
          <a:prstGeom prst="rect">
            <a:avLst/>
          </a:prstGeom>
          <a:solidFill>
            <a:srgbClr val="13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023359"/>
            <a:ext cx="502920" cy="502920"/>
          </a:xfrm>
          <a:prstGeom prst="rect">
            <a:avLst/>
          </a:prstGeom>
          <a:solidFill>
            <a:srgbClr val="18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02335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7D4B5"/>
                </a:solidFill>
                <a:latin typeface="Calibri"/>
              </a:rPr>
              <a:t>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1288" y="4041647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API Monitor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61288" y="4389119"/>
            <a:ext cx="1097280" cy="256032"/>
          </a:xfrm>
          <a:prstGeom prst="rect">
            <a:avLst/>
          </a:prstGeom>
          <a:solidFill>
            <a:srgbClr val="18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1288" y="438911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7D4B5"/>
                </a:solidFill>
                <a:latin typeface="Calibri"/>
              </a:rPr>
              <a:t>Разработка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754879"/>
            <a:ext cx="2404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A6FF"/>
                </a:solidFill>
                <a:latin typeface="Calibri"/>
              </a:rPr>
              <a:t>v1.7.5 · 72 МБ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047488"/>
            <a:ext cx="2404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9B8CC"/>
                </a:solidFill>
                <a:latin typeface="Calibri"/>
              </a:rPr>
              <a:t>Отладка запросов, логирование ответов и контроль интеграций.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3840479"/>
            <a:ext cx="2724912" cy="2148840"/>
          </a:xfrm>
          <a:prstGeom prst="rect">
            <a:avLst/>
          </a:prstGeom>
          <a:solidFill>
            <a:srgbClr val="13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56432" y="4023359"/>
            <a:ext cx="502920" cy="502920"/>
          </a:xfrm>
          <a:prstGeom prst="rect">
            <a:avLst/>
          </a:prstGeom>
          <a:solidFill>
            <a:srgbClr val="18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56432" y="402335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7D4B5"/>
                </a:solidFill>
                <a:latin typeface="Calibri"/>
              </a:rPr>
              <a:t>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69080" y="4041647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PatchGuard Agent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69080" y="4389119"/>
            <a:ext cx="1097280" cy="256032"/>
          </a:xfrm>
          <a:prstGeom prst="rect">
            <a:avLst/>
          </a:prstGeom>
          <a:solidFill>
            <a:srgbClr val="18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69080" y="438911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7D4B5"/>
                </a:solidFill>
                <a:latin typeface="Calibri"/>
              </a:rPr>
              <a:t>Безопасность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56432" y="4754879"/>
            <a:ext cx="2404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A6FF"/>
                </a:solidFill>
                <a:latin typeface="Calibri"/>
              </a:rPr>
              <a:t>v3.3.6 · 84 МБ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56432" y="5047488"/>
            <a:ext cx="2404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9B8CC"/>
                </a:solidFill>
                <a:latin typeface="Calibri"/>
              </a:rPr>
              <a:t>Контроль обновлений, инвентаризация версий и отчёты по рискам.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99632" y="3840479"/>
            <a:ext cx="2724912" cy="2148840"/>
          </a:xfrm>
          <a:prstGeom prst="rect">
            <a:avLst/>
          </a:prstGeom>
          <a:solidFill>
            <a:srgbClr val="13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64224" y="4023359"/>
            <a:ext cx="502920" cy="502920"/>
          </a:xfrm>
          <a:prstGeom prst="rect">
            <a:avLst/>
          </a:prstGeom>
          <a:solidFill>
            <a:srgbClr val="18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64224" y="402335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7D4B5"/>
                </a:solidFill>
                <a:latin typeface="Calibri"/>
              </a:rPr>
              <a:t>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76872" y="4041647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PDF Master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76872" y="4389119"/>
            <a:ext cx="1097280" cy="256032"/>
          </a:xfrm>
          <a:prstGeom prst="rect">
            <a:avLst/>
          </a:prstGeom>
          <a:solidFill>
            <a:srgbClr val="18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76872" y="438911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7D4B5"/>
                </a:solidFill>
                <a:latin typeface="Calibri"/>
              </a:rPr>
              <a:t>Офис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64224" y="4754879"/>
            <a:ext cx="2404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A6FF"/>
                </a:solidFill>
                <a:latin typeface="Calibri"/>
              </a:rPr>
              <a:t>v8.1.2 · 118 МБ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64224" y="5047488"/>
            <a:ext cx="2404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9B8CC"/>
                </a:solidFill>
                <a:latin typeface="Calibri"/>
              </a:rPr>
              <a:t>Редактирование, подпись, сжатие и защита PDF-документов.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07424" y="3840479"/>
            <a:ext cx="2724912" cy="2148840"/>
          </a:xfrm>
          <a:prstGeom prst="rect">
            <a:avLst/>
          </a:prstGeom>
          <a:solidFill>
            <a:srgbClr val="13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72016" y="4023359"/>
            <a:ext cx="502920" cy="502920"/>
          </a:xfrm>
          <a:prstGeom prst="rect">
            <a:avLst/>
          </a:prstGeom>
          <a:solidFill>
            <a:srgbClr val="18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72016" y="402335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7D4B5"/>
                </a:solidFill>
                <a:latin typeface="Calibri"/>
              </a:rPr>
              <a:t>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84664" y="4041647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Backup Node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84664" y="4389119"/>
            <a:ext cx="1097280" cy="256032"/>
          </a:xfrm>
          <a:prstGeom prst="rect">
            <a:avLst/>
          </a:prstGeom>
          <a:solidFill>
            <a:srgbClr val="18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84664" y="438911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7D4B5"/>
                </a:solidFill>
                <a:latin typeface="Calibri"/>
              </a:rPr>
              <a:t>Облако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72016" y="4754879"/>
            <a:ext cx="2404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A6FF"/>
                </a:solidFill>
                <a:latin typeface="Calibri"/>
              </a:rPr>
              <a:t>v6.0.1 · 132 МБ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72016" y="5047488"/>
            <a:ext cx="2404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9B8CC"/>
                </a:solidFill>
                <a:latin typeface="Calibri"/>
              </a:rPr>
              <a:t>Локальные и облачные резервные копии с расписанием и журналом.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  <a:latin typeface="Calibri"/>
              </a:rPr>
              <a:t>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Как работает система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566160" cy="3657600"/>
          </a:xfrm>
          <a:prstGeom prst="rect">
            <a:avLst/>
          </a:prstGeom>
          <a:solidFill>
            <a:srgbClr val="13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66160" cy="594360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6111A"/>
                </a:solidFill>
                <a:latin typeface="Arial Black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Публикация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B8CC"/>
                </a:solidFill>
                <a:latin typeface="Calibri"/>
              </a:rPr>
              <a:t>Администратор добавляет программу: описание, версию, системные требования и файл для загрузки.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3246120"/>
            <a:ext cx="137160" cy="274320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1" y="1554480"/>
            <a:ext cx="3566160" cy="3657600"/>
          </a:xfrm>
          <a:prstGeom prst="rect">
            <a:avLst/>
          </a:prstGeom>
          <a:solidFill>
            <a:srgbClr val="13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1" y="1554480"/>
            <a:ext cx="3566160" cy="5943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1" y="15544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6111A"/>
                </a:solidFill>
                <a:latin typeface="Arial Black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Проверка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7432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B8CC"/>
                </a:solidFill>
                <a:latin typeface="Calibri"/>
              </a:rPr>
              <a:t>Система фиксирует параметры файла, вычисляет SHA-256 хеш, выполняет антивирусный контроль и подтверждает источник.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151" y="3246120"/>
            <a:ext cx="137160" cy="274320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3" y="1554480"/>
            <a:ext cx="3566160" cy="3657600"/>
          </a:xfrm>
          <a:prstGeom prst="rect">
            <a:avLst/>
          </a:prstGeom>
          <a:solidFill>
            <a:srgbClr val="13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3" y="1554480"/>
            <a:ext cx="3566160" cy="594360"/>
          </a:xfrm>
          <a:prstGeom prst="rect">
            <a:avLst/>
          </a:prstGeom>
          <a:solidFill>
            <a:srgbClr val="58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3" y="15544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6111A"/>
                </a:solidFill>
                <a:latin typeface="Arial Black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3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Загрузка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3" y="27432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B8CC"/>
                </a:solidFill>
                <a:latin typeface="Calibri"/>
              </a:rPr>
              <a:t>Пользователь находит нужную версию через поиск или фильтры, изучает карточку и безопасно скачивает пакет.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532120"/>
            <a:ext cx="2651760" cy="1005840"/>
          </a:xfrm>
          <a:prstGeom prst="rect">
            <a:avLst/>
          </a:prstGeom>
          <a:solidFill>
            <a:srgbClr val="10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577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D4B5"/>
                </a:solidFill>
                <a:latin typeface="Arial Black"/>
              </a:rPr>
              <a:t>SHA-256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0167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9B8CC"/>
                </a:solidFill>
                <a:latin typeface="Calibri"/>
              </a:rPr>
              <a:t>контроль целостности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56432" y="5532120"/>
            <a:ext cx="2651760" cy="1005840"/>
          </a:xfrm>
          <a:prstGeom prst="rect">
            <a:avLst/>
          </a:prstGeom>
          <a:solidFill>
            <a:srgbClr val="10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93592" y="5577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D4B5"/>
                </a:solidFill>
                <a:latin typeface="Arial Black"/>
              </a:rPr>
              <a:t>24/7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3592" y="60167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9B8CC"/>
                </a:solidFill>
                <a:latin typeface="Calibri"/>
              </a:rPr>
              <a:t>мониторинг файлов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64224" y="5532120"/>
            <a:ext cx="2651760" cy="1005840"/>
          </a:xfrm>
          <a:prstGeom prst="rect">
            <a:avLst/>
          </a:prstGeom>
          <a:solidFill>
            <a:srgbClr val="10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1384" y="5577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D4B5"/>
                </a:solidFill>
                <a:latin typeface="Arial Black"/>
              </a:rPr>
              <a:t>4 ОС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1384" y="60167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9B8CC"/>
                </a:solidFill>
                <a:latin typeface="Calibri"/>
              </a:rPr>
              <a:t>поддержка платформ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72016" y="5532120"/>
            <a:ext cx="2651760" cy="1005840"/>
          </a:xfrm>
          <a:prstGeom prst="rect">
            <a:avLst/>
          </a:prstGeom>
          <a:solidFill>
            <a:srgbClr val="10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09176" y="5577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D4B5"/>
                </a:solidFill>
                <a:latin typeface="Arial Black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9176" y="60167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9B8CC"/>
                </a:solidFill>
                <a:latin typeface="Calibri"/>
              </a:rPr>
              <a:t>категорий ПО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D4B5"/>
                </a:solidFill>
                <a:latin typeface="Calibri"/>
              </a:rPr>
              <a:t>О ПЛАТФОРМЕ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SoftLoad Hub — ваш надёжный
канал распространения ПО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240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8A6FF"/>
                </a:solidFill>
                <a:latin typeface="Calibri"/>
              </a:rPr>
              <a:t>Преимущества использования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852928"/>
            <a:ext cx="109728" cy="109728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B8CC"/>
                </a:solidFill>
                <a:latin typeface="Calibri"/>
              </a:rPr>
              <a:t>Пользователь быстро находит нужный установщик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355848"/>
            <a:ext cx="109728" cy="109728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B8CC"/>
                </a:solidFill>
                <a:latin typeface="Calibri"/>
              </a:rPr>
              <a:t>IT-команда получает единый канал проверенного ПО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858768"/>
            <a:ext cx="109728" cy="109728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B8CC"/>
                </a:solidFill>
                <a:latin typeface="Calibri"/>
              </a:rPr>
              <a:t>Снижается риск скачивания устаревших файлов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361688"/>
            <a:ext cx="109728" cy="109728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B8CC"/>
                </a:solidFill>
                <a:latin typeface="Calibri"/>
              </a:rPr>
              <a:t>Интерфейс удобен на ноутбуке, планшете и смартфоне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864608"/>
            <a:ext cx="109728" cy="109728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B8CC"/>
                </a:solidFill>
                <a:latin typeface="Calibri"/>
              </a:rPr>
              <a:t>Платформа легко расширяется новыми категориями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645920"/>
            <a:ext cx="5486400" cy="4572000"/>
          </a:xfrm>
          <a:prstGeom prst="rect">
            <a:avLst/>
          </a:prstGeom>
          <a:solidFill>
            <a:srgbClr val="13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645920"/>
            <a:ext cx="5486400" cy="73152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87451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Контакты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423160"/>
            <a:ext cx="5029200" cy="457200"/>
          </a:xfrm>
          <a:prstGeom prst="rect">
            <a:avLst/>
          </a:prstGeom>
          <a:solidFill>
            <a:srgbClr val="10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4963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D4B5"/>
                </a:solidFill>
                <a:latin typeface="Calibri"/>
              </a:rPr>
              <a:t>Адрес: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4963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9B8CC"/>
                </a:solidFill>
                <a:latin typeface="Calibri"/>
              </a:rPr>
              <a:t>28 May, Baku, Azerbaijan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971800"/>
            <a:ext cx="5029200" cy="457200"/>
          </a:xfrm>
          <a:prstGeom prst="rect">
            <a:avLst/>
          </a:prstGeom>
          <a:solidFill>
            <a:srgbClr val="10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30449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D4B5"/>
                </a:solidFill>
                <a:latin typeface="Calibri"/>
              </a:rPr>
              <a:t>Телефон: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0449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9B8CC"/>
                </a:solidFill>
                <a:latin typeface="Calibri"/>
              </a:rPr>
              <a:t>+994 12 310 28 28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520439"/>
            <a:ext cx="5029200" cy="457200"/>
          </a:xfrm>
          <a:prstGeom prst="rect">
            <a:avLst/>
          </a:prstGeom>
          <a:solidFill>
            <a:srgbClr val="10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593591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D4B5"/>
                </a:solidFill>
                <a:latin typeface="Calibri"/>
              </a:rPr>
              <a:t>Email: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59359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9B8CC"/>
                </a:solidFill>
                <a:latin typeface="Calibri"/>
              </a:rPr>
              <a:t>support@softloadhub.az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4069079"/>
            <a:ext cx="5029200" cy="457200"/>
          </a:xfrm>
          <a:prstGeom prst="rect">
            <a:avLst/>
          </a:prstGeom>
          <a:solidFill>
            <a:srgbClr val="10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142231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D4B5"/>
                </a:solidFill>
                <a:latin typeface="Calibri"/>
              </a:rPr>
              <a:t>График: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14223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9B8CC"/>
                </a:solidFill>
                <a:latin typeface="Calibri"/>
              </a:rPr>
              <a:t>Пн–Пт, 09:00–18:00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4892040"/>
            <a:ext cx="4572000" cy="731520"/>
          </a:xfrm>
          <a:prstGeom prst="rect">
            <a:avLst/>
          </a:prstGeom>
          <a:solidFill>
            <a:srgbClr val="27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4892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111A"/>
                </a:solidFill>
                <a:latin typeface="Calibri"/>
              </a:rPr>
              <a:t>Обсудить проект 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92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06078"/>
                </a:solidFill>
                <a:latin typeface="Calibri"/>
              </a:rPr>
              <a:t>Платформа для безопасной публикации, проверки и онлайн-загрузки программного обеспечения.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